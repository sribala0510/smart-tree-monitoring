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9"/>
  </p:notesMasterIdLst>
  <p:sldIdLst>
    <p:sldId id="1300" r:id="rId5"/>
    <p:sldId id="1291" r:id="rId6"/>
    <p:sldId id="1301" r:id="rId7"/>
    <p:sldId id="1302" r:id="rId8"/>
    <p:sldId id="1303" r:id="rId9"/>
    <p:sldId id="1295" r:id="rId10"/>
    <p:sldId id="1296" r:id="rId11"/>
    <p:sldId id="1304" r:id="rId12"/>
    <p:sldId id="1305" r:id="rId13"/>
    <p:sldId id="1306" r:id="rId14"/>
    <p:sldId id="1308" r:id="rId15"/>
    <p:sldId id="1309" r:id="rId16"/>
    <p:sldId id="1307" r:id="rId17"/>
    <p:sldId id="1250"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82" autoAdjust="0"/>
  </p:normalViewPr>
  <p:slideViewPr>
    <p:cSldViewPr snapToGrid="0">
      <p:cViewPr varScale="1">
        <p:scale>
          <a:sx n="59" d="100"/>
          <a:sy n="59" d="100"/>
        </p:scale>
        <p:origin x="292" y="32"/>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notesMaster" Target="notesMasters/notesMaster1.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61978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drive/folders/1tDWvNSTggUuBB195uUi2ebsvsY4ZFql2?usp=sharing" TargetMode="External"/><Relationship Id="rId2" Type="http://schemas.openxmlformats.org/officeDocument/2006/relationships/hyperlink" Target="https://drive.google.com/drive/folders/1-SyxpeRvhh32D_lbDSfNyCV-n-CRNVA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 xmlns:a16="http://schemas.microsoft.com/office/drawing/2014/main" id="{02540B31-8123-24C6-B0F3-4444B51E9487}"/>
              </a:ext>
            </a:extLst>
          </p:cNvPr>
          <p:cNvPicPr>
            <a:picLocks noChangeAspect="1"/>
          </p:cNvPicPr>
          <p:nvPr/>
        </p:nvPicPr>
        <p:blipFill>
          <a:blip r:embed="rId3"/>
          <a:stretch>
            <a:fillRect/>
          </a:stretch>
        </p:blipFill>
        <p:spPr>
          <a:xfrm>
            <a:off x="0" y="706582"/>
            <a:ext cx="12192000" cy="6858000"/>
          </a:xfrm>
          <a:prstGeom prst="rect">
            <a:avLst/>
          </a:prstGeom>
        </p:spPr>
      </p:pic>
      <p:sp>
        <p:nvSpPr>
          <p:cNvPr id="5" name="Rectangle: Rounded Corners 4">
            <a:extLst>
              <a:ext uri="{FF2B5EF4-FFF2-40B4-BE49-F238E27FC236}">
                <a16:creationId xmlns="" xmlns:a16="http://schemas.microsoft.com/office/drawing/2014/main" id="{BB9AA95F-56F4-3F03-5804-8F7C6AFCE0BB}"/>
              </a:ext>
            </a:extLst>
          </p:cNvPr>
          <p:cNvSpPr/>
          <p:nvPr/>
        </p:nvSpPr>
        <p:spPr>
          <a:xfrm>
            <a:off x="8852136" y="745174"/>
            <a:ext cx="1661534"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 xmlns:a16="http://schemas.microsoft.com/office/drawing/2014/main" id="{E395316D-1E70-9E4D-C82D-DC6493EC4CED}"/>
              </a:ext>
            </a:extLst>
          </p:cNvPr>
          <p:cNvSpPr txBox="1"/>
          <p:nvPr/>
        </p:nvSpPr>
        <p:spPr>
          <a:xfrm>
            <a:off x="4366795" y="2624349"/>
            <a:ext cx="7238870" cy="954107"/>
          </a:xfrm>
          <a:prstGeom prst="rect">
            <a:avLst/>
          </a:prstGeom>
          <a:noFill/>
        </p:spPr>
        <p:txBody>
          <a:bodyPr wrap="square" lIns="91440" tIns="45720" rIns="91440" bIns="45720" rtlCol="0" anchor="t">
            <a:spAutoFit/>
          </a:bodyPr>
          <a:lstStyle/>
          <a:p>
            <a:pPr algn="r"/>
            <a:r>
              <a:rPr lang="en-US" sz="2800" b="1" dirty="0">
                <a:solidFill>
                  <a:schemeClr val="bg1"/>
                </a:solidFill>
                <a:latin typeface="Arial" panose="020B0604020202020204" pitchFamily="34" charset="0"/>
                <a:cs typeface="Arial" panose="020B0604020202020204" pitchFamily="34" charset="0"/>
              </a:rPr>
              <a:t>Smart Tree Plantation and Monitoring using AI and Green Volunteers</a:t>
            </a:r>
          </a:p>
        </p:txBody>
      </p:sp>
      <p:pic>
        <p:nvPicPr>
          <p:cNvPr id="19" name="Picture 18" descr="A close up of a logo&#10;&#10;Description automatically generated">
            <a:extLst>
              <a:ext uri="{FF2B5EF4-FFF2-40B4-BE49-F238E27FC236}">
                <a16:creationId xmlns="" xmlns:a16="http://schemas.microsoft.com/office/drawing/2014/main" id="{2A27540A-9E08-71C9-C49B-6AA04DE6EB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51325" y="834658"/>
            <a:ext cx="1263157" cy="410834"/>
          </a:xfrm>
          <a:prstGeom prst="rect">
            <a:avLst/>
          </a:prstGeom>
        </p:spPr>
      </p:pic>
      <p:sp>
        <p:nvSpPr>
          <p:cNvPr id="3" name="TextBox 2">
            <a:extLst>
              <a:ext uri="{FF2B5EF4-FFF2-40B4-BE49-F238E27FC236}">
                <a16:creationId xmlns="" xmlns:a16="http://schemas.microsoft.com/office/drawing/2014/main" id="{202C7EC9-BC04-311A-8D3D-C2E953C3A305}"/>
              </a:ext>
            </a:extLst>
          </p:cNvPr>
          <p:cNvSpPr txBox="1"/>
          <p:nvPr/>
        </p:nvSpPr>
        <p:spPr>
          <a:xfrm>
            <a:off x="4691796" y="3947060"/>
            <a:ext cx="6389167" cy="2246769"/>
          </a:xfrm>
          <a:prstGeom prst="rect">
            <a:avLst/>
          </a:prstGeom>
          <a:noFill/>
          <a:ln>
            <a:solidFill>
              <a:schemeClr val="accent1"/>
            </a:solidFill>
          </a:ln>
        </p:spPr>
        <p:txBody>
          <a:bodyPr wrap="square" rtlCol="0">
            <a:spAutoFit/>
          </a:bodyPr>
          <a:lstStyle/>
          <a:p>
            <a:r>
              <a:rPr lang="en" sz="2000" dirty="0">
                <a:solidFill>
                  <a:schemeClr val="bg1"/>
                </a:solidFill>
              </a:rPr>
              <a:t>Government Arts &amp; Science College For Women , </a:t>
            </a:r>
            <a:r>
              <a:rPr lang="en" sz="2000" dirty="0" smtClean="0">
                <a:solidFill>
                  <a:schemeClr val="bg1"/>
                </a:solidFill>
              </a:rPr>
              <a:t>Bargur</a:t>
            </a:r>
            <a:endParaRPr lang="en" sz="2000" dirty="0"/>
          </a:p>
          <a:p>
            <a:endParaRPr lang="en" sz="2000" dirty="0">
              <a:solidFill>
                <a:schemeClr val="bg1"/>
              </a:solidFill>
            </a:endParaRPr>
          </a:p>
          <a:p>
            <a:r>
              <a:rPr lang="en" sz="2000" dirty="0" smtClean="0">
                <a:solidFill>
                  <a:schemeClr val="bg1"/>
                </a:solidFill>
              </a:rPr>
              <a:t>Sribala </a:t>
            </a:r>
            <a:r>
              <a:rPr lang="en" sz="2000" dirty="0" smtClean="0">
                <a:solidFill>
                  <a:schemeClr val="bg1"/>
                </a:solidFill>
              </a:rPr>
              <a:t>B    -C23UG121CSC058</a:t>
            </a:r>
            <a:r>
              <a:rPr lang="en" sz="2000" dirty="0">
                <a:solidFill>
                  <a:schemeClr val="bg1"/>
                </a:solidFill>
              </a:rPr>
              <a:t/>
            </a:r>
            <a:br>
              <a:rPr lang="en" sz="2000" dirty="0">
                <a:solidFill>
                  <a:schemeClr val="bg1"/>
                </a:solidFill>
              </a:rPr>
            </a:br>
            <a:r>
              <a:rPr lang="en" sz="2000" dirty="0" smtClean="0">
                <a:solidFill>
                  <a:schemeClr val="bg1"/>
                </a:solidFill>
              </a:rPr>
              <a:t>Selvi </a:t>
            </a:r>
            <a:r>
              <a:rPr lang="en" sz="2000" dirty="0" smtClean="0">
                <a:solidFill>
                  <a:schemeClr val="bg1"/>
                </a:solidFill>
              </a:rPr>
              <a:t>T        -C23UG121CSC051</a:t>
            </a:r>
            <a:r>
              <a:rPr lang="en" sz="2000" dirty="0">
                <a:solidFill>
                  <a:schemeClr val="bg1"/>
                </a:solidFill>
              </a:rPr>
              <a:t/>
            </a:r>
            <a:br>
              <a:rPr lang="en" sz="2000" dirty="0">
                <a:solidFill>
                  <a:schemeClr val="bg1"/>
                </a:solidFill>
              </a:rPr>
            </a:br>
            <a:r>
              <a:rPr lang="en" sz="2000" dirty="0" smtClean="0">
                <a:solidFill>
                  <a:schemeClr val="bg1"/>
                </a:solidFill>
              </a:rPr>
              <a:t>Pavithra </a:t>
            </a:r>
            <a:r>
              <a:rPr lang="en" sz="2000" dirty="0" smtClean="0">
                <a:solidFill>
                  <a:schemeClr val="bg1"/>
                </a:solidFill>
              </a:rPr>
              <a:t>M  -C23UG121CSC036</a:t>
            </a:r>
            <a:r>
              <a:rPr lang="en" sz="2000" dirty="0">
                <a:solidFill>
                  <a:schemeClr val="bg1"/>
                </a:solidFill>
              </a:rPr>
              <a:t/>
            </a:r>
            <a:br>
              <a:rPr lang="en" sz="2000" dirty="0">
                <a:solidFill>
                  <a:schemeClr val="bg1"/>
                </a:solidFill>
              </a:rPr>
            </a:br>
            <a:r>
              <a:rPr lang="en" sz="2000" dirty="0" smtClean="0">
                <a:solidFill>
                  <a:schemeClr val="bg1"/>
                </a:solidFill>
              </a:rPr>
              <a:t>Harisha </a:t>
            </a:r>
            <a:r>
              <a:rPr lang="en" sz="2000" dirty="0" smtClean="0">
                <a:solidFill>
                  <a:schemeClr val="bg1"/>
                </a:solidFill>
              </a:rPr>
              <a:t>S   </a:t>
            </a:r>
            <a:r>
              <a:rPr lang="en" sz="2000" smtClean="0">
                <a:solidFill>
                  <a:schemeClr val="bg1"/>
                </a:solidFill>
              </a:rPr>
              <a:t>-C23UG121CSC014</a:t>
            </a:r>
            <a:endParaRPr lang="en-IN" dirty="0">
              <a:solidFill>
                <a:schemeClr val="bg1"/>
              </a:solidFill>
            </a:endParaRPr>
          </a:p>
        </p:txBody>
      </p:sp>
    </p:spTree>
    <p:extLst>
      <p:ext uri="{BB962C8B-B14F-4D97-AF65-F5344CB8AC3E}">
        <p14:creationId xmlns:p14="http://schemas.microsoft.com/office/powerpoint/2010/main" val="20009507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 xmlns:a16="http://schemas.microsoft.com/office/drawing/2014/main" id="{091B843F-6928-3290-2287-5FA1F531B685}"/>
              </a:ext>
            </a:extLst>
          </p:cNvPr>
          <p:cNvSpPr txBox="1"/>
          <p:nvPr/>
        </p:nvSpPr>
        <p:spPr>
          <a:xfrm>
            <a:off x="195937" y="1811002"/>
            <a:ext cx="10425989" cy="1938992"/>
          </a:xfrm>
          <a:prstGeom prst="rect">
            <a:avLst/>
          </a:prstGeom>
          <a:noFill/>
        </p:spPr>
        <p:txBody>
          <a:bodyPr wrap="square" rtlCol="0">
            <a:spAutoFit/>
          </a:bodyPr>
          <a:lstStyle/>
          <a:p>
            <a:pPr algn="just"/>
            <a:r>
              <a:rPr lang="en-US" sz="2400" dirty="0" smtClean="0"/>
              <a:t>           Tree </a:t>
            </a:r>
            <a:r>
              <a:rPr lang="en-US" sz="2400" dirty="0"/>
              <a:t>plantation drives often fail due to poor planning, low sapling survival rates, and lack of monitoring. Traditional methods do not ensure the right species selection, proper care, or long-term sustainability. There is a need for a smart solution that uses AI for monitoring and engages green volunteers to improve plantation success and environmental impact</a:t>
            </a:r>
            <a:r>
              <a:rPr lang="en-US" sz="1800" dirty="0" smtClean="0"/>
              <a:t>.    </a:t>
            </a:r>
            <a:endParaRPr lang="en-US" sz="1800" dirty="0"/>
          </a:p>
        </p:txBody>
      </p:sp>
      <p:sp>
        <p:nvSpPr>
          <p:cNvPr id="2" name="TextBox 1">
            <a:extLst>
              <a:ext uri="{FF2B5EF4-FFF2-40B4-BE49-F238E27FC236}">
                <a16:creationId xmlns="" xmlns:a16="http://schemas.microsoft.com/office/drawing/2014/main" id="{687AFAD5-578C-DC2D-F127-90FF4287354D}"/>
              </a:ext>
            </a:extLst>
          </p:cNvPr>
          <p:cNvSpPr txBox="1"/>
          <p:nvPr/>
        </p:nvSpPr>
        <p:spPr>
          <a:xfrm>
            <a:off x="435988" y="940639"/>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
        <p:nvSpPr>
          <p:cNvPr id="6" name="TextBox 5">
            <a:extLst>
              <a:ext uri="{FF2B5EF4-FFF2-40B4-BE49-F238E27FC236}">
                <a16:creationId xmlns=""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 </a:t>
            </a:r>
          </a:p>
        </p:txBody>
      </p:sp>
      <p:cxnSp>
        <p:nvCxnSpPr>
          <p:cNvPr id="12" name="Straight Connector 11">
            <a:extLst>
              <a:ext uri="{FF2B5EF4-FFF2-40B4-BE49-F238E27FC236}">
                <a16:creationId xmlns=""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60435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 xmlns:a16="http://schemas.microsoft.com/office/drawing/2014/main" id="{091B843F-6928-3290-2287-5FA1F531B685}"/>
              </a:ext>
            </a:extLst>
          </p:cNvPr>
          <p:cNvSpPr txBox="1"/>
          <p:nvPr/>
        </p:nvSpPr>
        <p:spPr>
          <a:xfrm>
            <a:off x="512513" y="1859303"/>
            <a:ext cx="10435915" cy="3693319"/>
          </a:xfrm>
          <a:prstGeom prst="rect">
            <a:avLst/>
          </a:prstGeom>
          <a:noFill/>
        </p:spPr>
        <p:txBody>
          <a:bodyPr wrap="square" rtlCol="0">
            <a:spAutoFit/>
          </a:bodyPr>
          <a:lstStyle/>
          <a:p>
            <a:pPr algn="just"/>
            <a:r>
              <a:rPr lang="en-US" sz="1800" dirty="0"/>
              <a:t>Rapid urbanization, deforestation, and climate change have drastically reduced green cover, impacting air quality, biodiversity, and overall environmental balance. While tree plantation is a common solution, its success is often limited due to poor planning, lack of monitoring, and minimal community involvement, leading to low survival rates of planted trees.</a:t>
            </a:r>
          </a:p>
          <a:p>
            <a:pPr algn="just"/>
            <a:r>
              <a:rPr lang="en-US" sz="1800" dirty="0"/>
              <a:t>By integrating </a:t>
            </a:r>
            <a:r>
              <a:rPr lang="en-US" sz="1800" b="1" dirty="0"/>
              <a:t>Artificial Intelligence (AI)</a:t>
            </a:r>
            <a:r>
              <a:rPr lang="en-US" sz="1800" dirty="0"/>
              <a:t> with </a:t>
            </a:r>
            <a:r>
              <a:rPr lang="en-US" sz="1800" b="1" dirty="0"/>
              <a:t>real-time monitoring tools</a:t>
            </a:r>
            <a:r>
              <a:rPr lang="en-US" sz="1800" dirty="0"/>
              <a:t> such as </a:t>
            </a:r>
            <a:r>
              <a:rPr lang="en-US" sz="1800" dirty="0" err="1"/>
              <a:t>IoT</a:t>
            </a:r>
            <a:r>
              <a:rPr lang="en-US" sz="1800" dirty="0"/>
              <a:t> sensors, drones, and satellite imagery, plantations can be planned more effectively—selecting suitable species, identifying optimal planting locations, and ensuring continuous health tracking of trees. AI can analyze growth patterns, detect diseases, and provide data-driven insights for better decision-making.</a:t>
            </a:r>
          </a:p>
          <a:p>
            <a:pPr algn="just"/>
            <a:r>
              <a:rPr lang="en-US" sz="1800" dirty="0"/>
              <a:t>In addition, involving </a:t>
            </a:r>
            <a:r>
              <a:rPr lang="en-US" sz="1800" b="1" dirty="0"/>
              <a:t>green volunteers</a:t>
            </a:r>
            <a:r>
              <a:rPr lang="en-US" sz="1800" dirty="0"/>
              <a:t> through digital platforms enhances community participation, enabling on-ground care, maintenance, and accountability. This combination of </a:t>
            </a:r>
            <a:r>
              <a:rPr lang="en-US" sz="1800" b="1" dirty="0"/>
              <a:t>technology and human collaboration</a:t>
            </a:r>
            <a:r>
              <a:rPr lang="en-US" sz="1800" dirty="0"/>
              <a:t> creates a sustainable model for large-scale, long-term tree plantation and monitoring, ultimately contributing to climate resilience and ecological restoration.</a:t>
            </a:r>
          </a:p>
        </p:txBody>
      </p:sp>
      <p:sp>
        <p:nvSpPr>
          <p:cNvPr id="2" name="TextBox 1">
            <a:extLst>
              <a:ext uri="{FF2B5EF4-FFF2-40B4-BE49-F238E27FC236}">
                <a16:creationId xmlns="" xmlns:a16="http://schemas.microsoft.com/office/drawing/2014/main" id="{687AFAD5-578C-DC2D-F127-90FF4287354D}"/>
              </a:ext>
            </a:extLst>
          </p:cNvPr>
          <p:cNvSpPr txBox="1"/>
          <p:nvPr/>
        </p:nvSpPr>
        <p:spPr>
          <a:xfrm>
            <a:off x="322884" y="1006614"/>
            <a:ext cx="5904091" cy="707886"/>
          </a:xfrm>
          <a:prstGeom prst="rect">
            <a:avLst/>
          </a:prstGeom>
          <a:noFill/>
        </p:spPr>
        <p:txBody>
          <a:bodyPr wrap="square">
            <a:spAutoFit/>
          </a:bodyPr>
          <a:lstStyle/>
          <a:p>
            <a:r>
              <a:rPr lang="en" sz="2000" b="1" dirty="0">
                <a:solidFill>
                  <a:srgbClr val="0070C0"/>
                </a:solidFill>
              </a:rPr>
              <a:t>Brief overview</a:t>
            </a:r>
            <a:br>
              <a:rPr lang="en" sz="2000" b="1" dirty="0">
                <a:solidFill>
                  <a:srgbClr val="0070C0"/>
                </a:solidFill>
              </a:rPr>
            </a:br>
            <a:endParaRPr lang="en-IN" sz="2000" b="1" dirty="0">
              <a:solidFill>
                <a:srgbClr val="0070C0"/>
              </a:solidFill>
            </a:endParaRPr>
          </a:p>
        </p:txBody>
      </p:sp>
      <p:sp>
        <p:nvSpPr>
          <p:cNvPr id="6" name="TextBox 5">
            <a:extLst>
              <a:ext uri="{FF2B5EF4-FFF2-40B4-BE49-F238E27FC236}">
                <a16:creationId xmlns=""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smtClean="0">
                <a:latin typeface="+mn-lt"/>
              </a:rPr>
              <a:t>  </a:t>
            </a:r>
            <a:endParaRPr lang="en-IN" sz="1200" b="1" dirty="0">
              <a:latin typeface="+mn-lt"/>
            </a:endParaRPr>
          </a:p>
        </p:txBody>
      </p:sp>
    </p:spTree>
    <p:extLst>
      <p:ext uri="{BB962C8B-B14F-4D97-AF65-F5344CB8AC3E}">
        <p14:creationId xmlns:p14="http://schemas.microsoft.com/office/powerpoint/2010/main" val="10662887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 xmlns:a16="http://schemas.microsoft.com/office/drawing/2014/main" id="{091B843F-6928-3290-2287-5FA1F531B685}"/>
              </a:ext>
            </a:extLst>
          </p:cNvPr>
          <p:cNvSpPr txBox="1"/>
          <p:nvPr/>
        </p:nvSpPr>
        <p:spPr>
          <a:xfrm>
            <a:off x="1246118" y="2087277"/>
            <a:ext cx="10435915" cy="2876172"/>
          </a:xfrm>
          <a:prstGeom prst="rect">
            <a:avLst/>
          </a:prstGeom>
          <a:noFill/>
        </p:spPr>
        <p:txBody>
          <a:bodyPr wrap="square" rtlCol="0">
            <a:spAutoFit/>
          </a:bodyPr>
          <a:lstStyle/>
          <a:p>
            <a:pPr marL="342900" indent="-342900">
              <a:lnSpc>
                <a:spcPct val="114999"/>
              </a:lnSpc>
              <a:buAutoNum type="arabicPeriod"/>
            </a:pPr>
            <a:r>
              <a:rPr lang="en-US" sz="1800" b="1" dirty="0" smtClean="0"/>
              <a:t>Plan </a:t>
            </a:r>
            <a:r>
              <a:rPr lang="en-US" sz="1800" b="1" dirty="0"/>
              <a:t>Smart </a:t>
            </a:r>
            <a:r>
              <a:rPr lang="en-US" sz="1800" b="1" dirty="0" smtClean="0"/>
              <a:t>Plantations</a:t>
            </a:r>
          </a:p>
          <a:p>
            <a:pPr>
              <a:lnSpc>
                <a:spcPct val="114999"/>
              </a:lnSpc>
            </a:pPr>
            <a:endParaRPr lang="en-US" sz="1800" b="1" dirty="0" smtClean="0"/>
          </a:p>
          <a:p>
            <a:pPr algn="just">
              <a:lnSpc>
                <a:spcPct val="114999"/>
              </a:lnSpc>
            </a:pPr>
            <a:r>
              <a:rPr lang="en-US" sz="1800" dirty="0" smtClean="0"/>
              <a:t>Use </a:t>
            </a:r>
            <a:r>
              <a:rPr lang="en-US" sz="1800" dirty="0"/>
              <a:t>AI to identify suitable locations, </a:t>
            </a:r>
            <a:endParaRPr lang="en-US" sz="1800" dirty="0" smtClean="0"/>
          </a:p>
          <a:p>
            <a:pPr algn="just">
              <a:lnSpc>
                <a:spcPct val="114999"/>
              </a:lnSpc>
            </a:pPr>
            <a:r>
              <a:rPr lang="en-US" sz="1800" dirty="0" smtClean="0"/>
              <a:t>soil </a:t>
            </a:r>
            <a:r>
              <a:rPr lang="en-US" sz="1800" dirty="0"/>
              <a:t>conditions</a:t>
            </a:r>
            <a:r>
              <a:rPr lang="en-US" sz="1800" dirty="0" smtClean="0"/>
              <a:t>, </a:t>
            </a:r>
            <a:r>
              <a:rPr lang="en-US" sz="1800" dirty="0"/>
              <a:t>and species </a:t>
            </a:r>
            <a:r>
              <a:rPr lang="en-US" sz="1800" dirty="0" smtClean="0"/>
              <a:t>for</a:t>
            </a:r>
          </a:p>
          <a:p>
            <a:pPr algn="just">
              <a:lnSpc>
                <a:spcPct val="114999"/>
              </a:lnSpc>
            </a:pPr>
            <a:r>
              <a:rPr lang="en-US" sz="1800" dirty="0" smtClean="0"/>
              <a:t> maximum </a:t>
            </a:r>
            <a:r>
              <a:rPr lang="en-US" sz="1800" dirty="0"/>
              <a:t>survival and </a:t>
            </a:r>
            <a:endParaRPr lang="en-US" sz="1800" dirty="0" smtClean="0"/>
          </a:p>
          <a:p>
            <a:pPr algn="just">
              <a:lnSpc>
                <a:spcPct val="114999"/>
              </a:lnSpc>
            </a:pPr>
            <a:r>
              <a:rPr lang="en-US" sz="1800" dirty="0" smtClean="0"/>
              <a:t>ecological </a:t>
            </a:r>
            <a:r>
              <a:rPr lang="en-US" sz="1800" dirty="0"/>
              <a:t>benefit.</a:t>
            </a:r>
            <a:endParaRPr lang="en-US" sz="1800" b="1" dirty="0"/>
          </a:p>
          <a:p>
            <a:pPr>
              <a:lnSpc>
                <a:spcPct val="114999"/>
              </a:lnSpc>
            </a:pPr>
            <a:endParaRPr lang="en-US" sz="1800" dirty="0"/>
          </a:p>
          <a:p>
            <a:pPr>
              <a:spcAft>
                <a:spcPts val="800"/>
              </a:spcAft>
            </a:pPr>
            <a:r>
              <a:rPr lang="en-US" sz="1800" dirty="0">
                <a:latin typeface="+mn-lt"/>
              </a:rPr>
              <a:t/>
            </a:r>
            <a:br>
              <a:rPr lang="en-US" sz="1800" dirty="0">
                <a:latin typeface="+mn-lt"/>
              </a:rPr>
            </a:br>
            <a:endParaRPr lang="en-US" sz="1800" dirty="0">
              <a:latin typeface="+mn-lt"/>
            </a:endParaRPr>
          </a:p>
        </p:txBody>
      </p:sp>
      <p:sp>
        <p:nvSpPr>
          <p:cNvPr id="2" name="TextBox 1">
            <a:extLst>
              <a:ext uri="{FF2B5EF4-FFF2-40B4-BE49-F238E27FC236}">
                <a16:creationId xmlns="" xmlns:a16="http://schemas.microsoft.com/office/drawing/2014/main" id="{687AFAD5-578C-DC2D-F127-90FF4287354D}"/>
              </a:ext>
            </a:extLst>
          </p:cNvPr>
          <p:cNvSpPr txBox="1"/>
          <p:nvPr/>
        </p:nvSpPr>
        <p:spPr>
          <a:xfrm>
            <a:off x="199809" y="827568"/>
            <a:ext cx="5904091" cy="400110"/>
          </a:xfrm>
          <a:prstGeom prst="rect">
            <a:avLst/>
          </a:prstGeom>
          <a:noFill/>
        </p:spPr>
        <p:txBody>
          <a:bodyPr wrap="square">
            <a:spAutoFit/>
          </a:bodyPr>
          <a:lstStyle/>
          <a:p>
            <a:r>
              <a:rPr lang="en-US" sz="2000" b="1" dirty="0">
                <a:solidFill>
                  <a:srgbClr val="0070C0"/>
                </a:solidFill>
              </a:rPr>
              <a:t>Key objectives </a:t>
            </a:r>
            <a:endParaRPr lang="en-IN" sz="2000" b="1" dirty="0">
              <a:solidFill>
                <a:srgbClr val="0070C0"/>
              </a:solidFill>
            </a:endParaRPr>
          </a:p>
        </p:txBody>
      </p:sp>
      <p:sp>
        <p:nvSpPr>
          <p:cNvPr id="6" name="TextBox 5">
            <a:extLst>
              <a:ext uri="{FF2B5EF4-FFF2-40B4-BE49-F238E27FC236}">
                <a16:creationId xmlns=""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smtClean="0">
                <a:latin typeface="+mn-lt"/>
              </a:rPr>
              <a:t>  </a:t>
            </a:r>
            <a:endParaRPr lang="en-IN" sz="1200" b="1" dirty="0">
              <a:latin typeface="+mn-lt"/>
            </a:endParaRPr>
          </a:p>
        </p:txBody>
      </p:sp>
      <p:cxnSp>
        <p:nvCxnSpPr>
          <p:cNvPr id="12" name="Straight Connector 11">
            <a:extLst>
              <a:ext uri="{FF2B5EF4-FFF2-40B4-BE49-F238E27FC236}">
                <a16:creationId xmlns=""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 xmlns:a16="http://schemas.microsoft.com/office/drawing/2014/main" id="{76D9ECE8-0035-7B5C-88EE-01E1CA2377C2}"/>
              </a:ext>
            </a:extLst>
          </p:cNvPr>
          <p:cNvSpPr txBox="1"/>
          <p:nvPr/>
        </p:nvSpPr>
        <p:spPr>
          <a:xfrm>
            <a:off x="6379016" y="2007309"/>
            <a:ext cx="5508184" cy="1862048"/>
          </a:xfrm>
          <a:prstGeom prst="rect">
            <a:avLst/>
          </a:prstGeom>
          <a:noFill/>
        </p:spPr>
        <p:txBody>
          <a:bodyPr wrap="square">
            <a:spAutoFit/>
          </a:bodyPr>
          <a:lstStyle/>
          <a:p>
            <a:pPr marL="0" indent="0">
              <a:lnSpc>
                <a:spcPct val="114999"/>
              </a:lnSpc>
            </a:pPr>
            <a:r>
              <a:rPr lang="en-US" sz="2000" b="1" dirty="0"/>
              <a:t>2. Monitor Tree </a:t>
            </a:r>
            <a:r>
              <a:rPr lang="en-US" sz="2000" b="1" dirty="0" smtClean="0"/>
              <a:t>Growth</a:t>
            </a:r>
          </a:p>
          <a:p>
            <a:pPr marL="0" indent="0" algn="just">
              <a:lnSpc>
                <a:spcPct val="114999"/>
              </a:lnSpc>
            </a:pPr>
            <a:endParaRPr lang="en-US" sz="2000" b="1" dirty="0" smtClean="0"/>
          </a:p>
          <a:p>
            <a:pPr marL="0" indent="0" algn="just">
              <a:lnSpc>
                <a:spcPct val="114999"/>
              </a:lnSpc>
            </a:pPr>
            <a:r>
              <a:rPr lang="en-US" sz="2000" dirty="0"/>
              <a:t>Apply </a:t>
            </a:r>
            <a:r>
              <a:rPr lang="en-US" sz="2000" dirty="0" err="1"/>
              <a:t>IoT</a:t>
            </a:r>
            <a:r>
              <a:rPr lang="en-US" sz="2000" dirty="0"/>
              <a:t>, drones, or satellite data to track health, growth, and survival rates of planted trees in real time.</a:t>
            </a:r>
            <a:endParaRPr lang="en-US" sz="2000" b="1" dirty="0"/>
          </a:p>
        </p:txBody>
      </p:sp>
    </p:spTree>
    <p:extLst>
      <p:ext uri="{BB962C8B-B14F-4D97-AF65-F5344CB8AC3E}">
        <p14:creationId xmlns:p14="http://schemas.microsoft.com/office/powerpoint/2010/main" val="20254300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02ABE48-3DA4-3CE1-C310-5F1A921B5AF4}"/>
              </a:ext>
            </a:extLst>
          </p:cNvPr>
          <p:cNvSpPr txBox="1"/>
          <p:nvPr/>
        </p:nvSpPr>
        <p:spPr>
          <a:xfrm>
            <a:off x="1242391" y="1382286"/>
            <a:ext cx="6102626" cy="1413977"/>
          </a:xfrm>
          <a:prstGeom prst="rect">
            <a:avLst/>
          </a:prstGeom>
          <a:noFill/>
        </p:spPr>
        <p:txBody>
          <a:bodyPr wrap="square">
            <a:spAutoFit/>
          </a:bodyPr>
          <a:lstStyle/>
          <a:p>
            <a:pPr>
              <a:lnSpc>
                <a:spcPct val="114999"/>
              </a:lnSpc>
            </a:pPr>
            <a:r>
              <a:rPr lang="en-US" b="1" dirty="0" smtClean="0"/>
              <a:t>3.</a:t>
            </a:r>
            <a:r>
              <a:rPr lang="en-US" dirty="0"/>
              <a:t> </a:t>
            </a:r>
            <a:r>
              <a:rPr lang="en-US" b="1" dirty="0"/>
              <a:t>Early Problem Detection</a:t>
            </a:r>
          </a:p>
          <a:p>
            <a:pPr>
              <a:lnSpc>
                <a:spcPct val="114999"/>
              </a:lnSpc>
            </a:pPr>
            <a:endParaRPr lang="en-US" dirty="0" smtClean="0"/>
          </a:p>
          <a:p>
            <a:pPr>
              <a:lnSpc>
                <a:spcPct val="114999"/>
              </a:lnSpc>
            </a:pPr>
            <a:r>
              <a:rPr lang="en-US" dirty="0"/>
              <a:t>Utilize AI to detect diseases, water stress</a:t>
            </a:r>
            <a:r>
              <a:rPr lang="en-US" dirty="0" smtClean="0"/>
              <a:t>,</a:t>
            </a:r>
          </a:p>
          <a:p>
            <a:pPr>
              <a:lnSpc>
                <a:spcPct val="114999"/>
              </a:lnSpc>
            </a:pPr>
            <a:r>
              <a:rPr lang="en-US" dirty="0" smtClean="0"/>
              <a:t> </a:t>
            </a:r>
            <a:r>
              <a:rPr lang="en-US" dirty="0"/>
              <a:t>or poor growth early for timely intervention.</a:t>
            </a:r>
          </a:p>
        </p:txBody>
      </p:sp>
      <p:sp>
        <p:nvSpPr>
          <p:cNvPr id="5" name="TextBox 4">
            <a:extLst>
              <a:ext uri="{FF2B5EF4-FFF2-40B4-BE49-F238E27FC236}">
                <a16:creationId xmlns="" xmlns:a16="http://schemas.microsoft.com/office/drawing/2014/main" id="{69951831-D971-D369-5562-6D1BA39382B7}"/>
              </a:ext>
            </a:extLst>
          </p:cNvPr>
          <p:cNvSpPr txBox="1"/>
          <p:nvPr/>
        </p:nvSpPr>
        <p:spPr>
          <a:xfrm>
            <a:off x="6977270" y="1257300"/>
            <a:ext cx="6102626" cy="2735621"/>
          </a:xfrm>
          <a:prstGeom prst="rect">
            <a:avLst/>
          </a:prstGeom>
          <a:noFill/>
        </p:spPr>
        <p:txBody>
          <a:bodyPr wrap="square">
            <a:spAutoFit/>
          </a:bodyPr>
          <a:lstStyle/>
          <a:p>
            <a:pPr>
              <a:lnSpc>
                <a:spcPct val="114999"/>
              </a:lnSpc>
            </a:pPr>
            <a:r>
              <a:rPr lang="en-US" b="1" dirty="0"/>
              <a:t>4. Engage Green Volunteers</a:t>
            </a:r>
          </a:p>
          <a:p>
            <a:pPr>
              <a:lnSpc>
                <a:spcPct val="114999"/>
              </a:lnSpc>
            </a:pPr>
            <a:endParaRPr lang="en-US" dirty="0"/>
          </a:p>
          <a:p>
            <a:pPr algn="just">
              <a:lnSpc>
                <a:spcPct val="114999"/>
              </a:lnSpc>
            </a:pPr>
            <a:r>
              <a:rPr lang="en-US" dirty="0"/>
              <a:t>Build a community-driven system </a:t>
            </a:r>
            <a:r>
              <a:rPr lang="en-US" dirty="0" smtClean="0"/>
              <a:t>where</a:t>
            </a:r>
          </a:p>
          <a:p>
            <a:pPr algn="just">
              <a:lnSpc>
                <a:spcPct val="114999"/>
              </a:lnSpc>
            </a:pPr>
            <a:r>
              <a:rPr lang="en-US" dirty="0" smtClean="0"/>
              <a:t> </a:t>
            </a:r>
            <a:r>
              <a:rPr lang="en-US" dirty="0"/>
              <a:t>volunteers can participate in plantation</a:t>
            </a:r>
            <a:r>
              <a:rPr lang="en-US" dirty="0" smtClean="0"/>
              <a:t>,</a:t>
            </a:r>
          </a:p>
          <a:p>
            <a:pPr algn="just">
              <a:lnSpc>
                <a:spcPct val="114999"/>
              </a:lnSpc>
            </a:pPr>
            <a:r>
              <a:rPr lang="en-US" dirty="0" smtClean="0"/>
              <a:t> </a:t>
            </a:r>
            <a:r>
              <a:rPr lang="en-US" dirty="0"/>
              <a:t>maintenance, and reporting.</a:t>
            </a:r>
          </a:p>
          <a:p>
            <a:pPr>
              <a:lnSpc>
                <a:spcPct val="114999"/>
              </a:lnSpc>
            </a:pPr>
            <a:endParaRPr lang="en-US" dirty="0"/>
          </a:p>
          <a:p>
            <a:pPr>
              <a:lnSpc>
                <a:spcPct val="114999"/>
              </a:lnSpc>
            </a:pPr>
            <a:endParaRPr lang="en-US" dirty="0"/>
          </a:p>
          <a:p>
            <a:pPr>
              <a:lnSpc>
                <a:spcPct val="114999"/>
              </a:lnSpc>
            </a:pPr>
            <a:endParaRPr lang="en-US" dirty="0"/>
          </a:p>
        </p:txBody>
      </p:sp>
      <p:sp>
        <p:nvSpPr>
          <p:cNvPr id="7" name="TextBox 6">
            <a:extLst>
              <a:ext uri="{FF2B5EF4-FFF2-40B4-BE49-F238E27FC236}">
                <a16:creationId xmlns="" xmlns:a16="http://schemas.microsoft.com/office/drawing/2014/main" id="{8CB77328-F94C-D734-4BE8-B41FD9006843}"/>
              </a:ext>
            </a:extLst>
          </p:cNvPr>
          <p:cNvSpPr txBox="1"/>
          <p:nvPr/>
        </p:nvSpPr>
        <p:spPr>
          <a:xfrm>
            <a:off x="3242641" y="3969484"/>
            <a:ext cx="6544916" cy="1259447"/>
          </a:xfrm>
          <a:prstGeom prst="rect">
            <a:avLst/>
          </a:prstGeom>
          <a:noFill/>
        </p:spPr>
        <p:txBody>
          <a:bodyPr wrap="square" lIns="91440" tIns="45720" rIns="91440" bIns="45720" anchor="t">
            <a:spAutoFit/>
          </a:bodyPr>
          <a:lstStyle/>
          <a:p>
            <a:r>
              <a:rPr lang="en-US" sz="1850" b="1" dirty="0"/>
              <a:t>5. </a:t>
            </a:r>
            <a:r>
              <a:rPr lang="en-US" sz="1800" b="1" dirty="0"/>
              <a:t>Ensure Sustainability</a:t>
            </a:r>
            <a:endParaRPr lang="en-US" sz="1850" b="1" dirty="0"/>
          </a:p>
          <a:p>
            <a:r>
              <a:rPr lang="en-US" sz="2000" b="0" dirty="0">
                <a:latin typeface="Lato"/>
              </a:rPr>
              <a:t/>
            </a:r>
            <a:br>
              <a:rPr lang="en-US" sz="2000" b="0" dirty="0">
                <a:latin typeface="Lato"/>
              </a:rPr>
            </a:br>
            <a:r>
              <a:rPr lang="en-US" sz="1800" dirty="0"/>
              <a:t>Improve sapling survival rates through continuous monitoring, care, and data-driven decision-making.</a:t>
            </a:r>
            <a:endParaRPr lang="en-US" sz="1850" dirty="0"/>
          </a:p>
        </p:txBody>
      </p:sp>
    </p:spTree>
    <p:extLst>
      <p:ext uri="{BB962C8B-B14F-4D97-AF65-F5344CB8AC3E}">
        <p14:creationId xmlns:p14="http://schemas.microsoft.com/office/powerpoint/2010/main" val="6355338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cxnSp>
        <p:nvCxnSpPr>
          <p:cNvPr id="10" name="Straight Connector 9">
            <a:extLst>
              <a:ext uri="{FF2B5EF4-FFF2-40B4-BE49-F238E27FC236}">
                <a16:creationId xmlns=""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107ADDE9-C989-4EC8-4F8F-FE3AE8DFC903}"/>
              </a:ext>
            </a:extLst>
          </p:cNvPr>
          <p:cNvSpPr txBox="1"/>
          <p:nvPr/>
        </p:nvSpPr>
        <p:spPr>
          <a:xfrm>
            <a:off x="646043" y="936106"/>
            <a:ext cx="8505410" cy="5255285"/>
          </a:xfrm>
          <a:prstGeom prst="rect">
            <a:avLst/>
          </a:prstGeom>
          <a:noFill/>
        </p:spPr>
        <p:txBody>
          <a:bodyPr wrap="square" lIns="91440" tIns="45720" rIns="91440" bIns="45720" anchor="t">
            <a:spAutoFit/>
          </a:bodyPr>
          <a:lstStyle/>
          <a:p>
            <a:r>
              <a:rPr lang="en-US" sz="1850" b="1" dirty="0">
                <a:solidFill>
                  <a:srgbClr val="0070C0"/>
                </a:solidFill>
              </a:rPr>
              <a:t>Dataset Overview</a:t>
            </a:r>
            <a:r>
              <a:rPr lang="en-US" sz="1850" dirty="0"/>
              <a:t/>
            </a:r>
            <a:br>
              <a:rPr lang="en-US" sz="1850" dirty="0"/>
            </a:br>
            <a:r>
              <a:rPr lang="en-US" sz="1850" dirty="0"/>
              <a:t/>
            </a:r>
            <a:br>
              <a:rPr lang="en-US" sz="1850" dirty="0"/>
            </a:br>
            <a:r>
              <a:rPr lang="en-US" sz="1850" b="1" dirty="0"/>
              <a:t>Dataset Description</a:t>
            </a:r>
          </a:p>
          <a:p>
            <a:endParaRPr lang="en-US" sz="2000" dirty="0">
              <a:latin typeface="Lato"/>
            </a:endParaRPr>
          </a:p>
          <a:p>
            <a:pPr algn="just"/>
            <a:r>
              <a:rPr lang="en-US" sz="2000" dirty="0" smtClean="0"/>
              <a:t>   The </a:t>
            </a:r>
            <a:r>
              <a:rPr lang="en-US" sz="2000" dirty="0"/>
              <a:t>dataset used in this study is a tree plantation and monitoring dataset collected from multiple open data sources and community-driven plantation drives. It includes environmental parameters, plantation details, and monitoring records to support AI-based analysis</a:t>
            </a:r>
            <a:r>
              <a:rPr lang="en-US" sz="2000" dirty="0" smtClean="0"/>
              <a:t>.</a:t>
            </a:r>
          </a:p>
          <a:p>
            <a:pPr algn="just"/>
            <a:endParaRPr lang="en-US" sz="2000" dirty="0"/>
          </a:p>
          <a:p>
            <a:pPr algn="just"/>
            <a:r>
              <a:rPr lang="en-US" sz="2000" b="1" dirty="0"/>
              <a:t>Source:</a:t>
            </a:r>
            <a:r>
              <a:rPr lang="en-US" sz="2000" dirty="0"/>
              <a:t> [India Open Government Data (OGD) Platform – Tree Plantation &amp; Environmental Data] and [FAO Global Forest Resources Database</a:t>
            </a:r>
            <a:r>
              <a:rPr lang="en-US" sz="2000" dirty="0" smtClean="0"/>
              <a:t>].</a:t>
            </a:r>
          </a:p>
          <a:p>
            <a:pPr algn="just"/>
            <a:endParaRPr lang="en-US" sz="2000" dirty="0"/>
          </a:p>
          <a:p>
            <a:pPr algn="just"/>
            <a:r>
              <a:rPr lang="en-US" sz="2000" b="1" dirty="0"/>
              <a:t>Size:</a:t>
            </a:r>
            <a:r>
              <a:rPr lang="en-US" sz="2000" dirty="0"/>
              <a:t> The dataset contains </a:t>
            </a:r>
            <a:r>
              <a:rPr lang="en-US" sz="2000" b="1" dirty="0"/>
              <a:t>15,200 plantation records</a:t>
            </a:r>
            <a:r>
              <a:rPr lang="en-US" sz="2000" dirty="0"/>
              <a:t>, covering tree species, plantation sites, soil type, and maintenance details across urban and </a:t>
            </a:r>
            <a:r>
              <a:rPr lang="en-US" sz="2000" dirty="0" err="1"/>
              <a:t>peri</a:t>
            </a:r>
            <a:r>
              <a:rPr lang="en-US" sz="2000" dirty="0"/>
              <a:t>-urban regions. It also includes </a:t>
            </a:r>
            <a:r>
              <a:rPr lang="en-US" sz="2000" b="1" dirty="0"/>
              <a:t>satellite imagery samples and </a:t>
            </a:r>
            <a:r>
              <a:rPr lang="en-US" sz="2000" b="1" dirty="0" err="1"/>
              <a:t>IoT</a:t>
            </a:r>
            <a:r>
              <a:rPr lang="en-US" sz="2000" b="1" dirty="0"/>
              <a:t> sensor logs</a:t>
            </a:r>
            <a:r>
              <a:rPr lang="en-US" sz="2000" dirty="0"/>
              <a:t> for real-time monitoring of soil moisture and tree growth.</a:t>
            </a:r>
          </a:p>
          <a:p>
            <a:pPr algn="just"/>
            <a:endParaRPr lang="en-US" sz="2000" dirty="0">
              <a:latin typeface="Lato"/>
            </a:endParaRPr>
          </a:p>
        </p:txBody>
      </p:sp>
    </p:spTree>
    <p:extLst>
      <p:ext uri="{BB962C8B-B14F-4D97-AF65-F5344CB8AC3E}">
        <p14:creationId xmlns:p14="http://schemas.microsoft.com/office/powerpoint/2010/main" val="20463212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TextBox 4">
            <a:extLst>
              <a:ext uri="{FF2B5EF4-FFF2-40B4-BE49-F238E27FC236}">
                <a16:creationId xmlns="" xmlns:a16="http://schemas.microsoft.com/office/drawing/2014/main" id="{C1189D77-FA5C-1708-936B-5DD7315724B4}"/>
              </a:ext>
            </a:extLst>
          </p:cNvPr>
          <p:cNvSpPr txBox="1"/>
          <p:nvPr/>
        </p:nvSpPr>
        <p:spPr>
          <a:xfrm>
            <a:off x="361737" y="499036"/>
            <a:ext cx="9849679" cy="6524863"/>
          </a:xfrm>
          <a:prstGeom prst="rect">
            <a:avLst/>
          </a:prstGeom>
          <a:noFill/>
        </p:spPr>
        <p:txBody>
          <a:bodyPr wrap="square" lIns="91440" tIns="45720" rIns="91440" bIns="45720" anchor="t">
            <a:spAutoFit/>
          </a:bodyPr>
          <a:lstStyle/>
          <a:p>
            <a:pPr marL="285750" indent="-285750">
              <a:buFont typeface="Wingdings"/>
              <a:buChar char="q"/>
            </a:pPr>
            <a:endParaRPr lang="en-US" sz="2000" b="0" dirty="0">
              <a:latin typeface="Lato"/>
              <a:ea typeface="Lato"/>
              <a:cs typeface="Lato"/>
            </a:endParaRPr>
          </a:p>
          <a:p>
            <a:r>
              <a:rPr lang="en-US" sz="2000" b="1" dirty="0">
                <a:solidFill>
                  <a:srgbClr val="0070C0"/>
                </a:solidFill>
                <a:latin typeface="Lato"/>
                <a:ea typeface="Lato"/>
                <a:cs typeface="Lato"/>
              </a:rPr>
              <a:t>Key Features</a:t>
            </a:r>
            <a:r>
              <a:rPr lang="en-US" sz="2000" b="1" dirty="0" smtClean="0">
                <a:solidFill>
                  <a:srgbClr val="0070C0"/>
                </a:solidFill>
                <a:latin typeface="Lato"/>
                <a:ea typeface="Lato"/>
                <a:cs typeface="Lato"/>
              </a:rPr>
              <a:t>:</a:t>
            </a:r>
          </a:p>
          <a:p>
            <a:endParaRPr lang="en-US" sz="2000" b="1" dirty="0">
              <a:solidFill>
                <a:srgbClr val="0070C0"/>
              </a:solidFill>
              <a:latin typeface="Lato"/>
              <a:ea typeface="Lato"/>
              <a:cs typeface="Lato"/>
            </a:endParaRPr>
          </a:p>
          <a:p>
            <a:r>
              <a:rPr lang="en-US" sz="1800" b="1" dirty="0" err="1"/>
              <a:t>Plantation_ID</a:t>
            </a:r>
            <a:r>
              <a:rPr lang="en-US" sz="1800" b="1" dirty="0"/>
              <a:t> →</a:t>
            </a:r>
            <a:r>
              <a:rPr lang="en-US" sz="1800" dirty="0"/>
              <a:t> Unique identifier for each plantation record</a:t>
            </a:r>
            <a:r>
              <a:rPr lang="en-US" sz="1800" dirty="0" smtClean="0"/>
              <a:t>.</a:t>
            </a:r>
          </a:p>
          <a:p>
            <a:endParaRPr lang="en-US" sz="1800" dirty="0"/>
          </a:p>
          <a:p>
            <a:r>
              <a:rPr lang="en-US" sz="1800" b="1" dirty="0" err="1"/>
              <a:t>Date_of_Plantation</a:t>
            </a:r>
            <a:r>
              <a:rPr lang="en-US" sz="1800" b="1" dirty="0"/>
              <a:t> →</a:t>
            </a:r>
            <a:r>
              <a:rPr lang="en-US" sz="1800" dirty="0"/>
              <a:t> The calendar date when the sapling was planted</a:t>
            </a:r>
            <a:r>
              <a:rPr lang="en-US" sz="1800" dirty="0" smtClean="0"/>
              <a:t>.</a:t>
            </a:r>
          </a:p>
          <a:p>
            <a:endParaRPr lang="en-US" sz="1800" dirty="0"/>
          </a:p>
          <a:p>
            <a:r>
              <a:rPr lang="en-US" sz="1800" b="1" dirty="0"/>
              <a:t>Location (Latitude, Longitude, Zone) →</a:t>
            </a:r>
            <a:r>
              <a:rPr lang="en-US" sz="1800" dirty="0"/>
              <a:t> Geographical coordinates and administrative zone of the plantation site</a:t>
            </a:r>
            <a:r>
              <a:rPr lang="en-US" sz="1800" dirty="0" smtClean="0"/>
              <a:t>.</a:t>
            </a:r>
          </a:p>
          <a:p>
            <a:endParaRPr lang="en-US" sz="1800" dirty="0"/>
          </a:p>
          <a:p>
            <a:r>
              <a:rPr lang="en-US" sz="1800" b="1" dirty="0" err="1"/>
              <a:t>Tree_Species</a:t>
            </a:r>
            <a:r>
              <a:rPr lang="en-US" sz="1800" b="1" dirty="0"/>
              <a:t> →</a:t>
            </a:r>
            <a:r>
              <a:rPr lang="en-US" sz="1800" dirty="0"/>
              <a:t> Species name of the planted tree (e.g., </a:t>
            </a:r>
            <a:r>
              <a:rPr lang="en-US" sz="1800" dirty="0" err="1"/>
              <a:t>Neem</a:t>
            </a:r>
            <a:r>
              <a:rPr lang="en-US" sz="1800" dirty="0"/>
              <a:t>, Banyan, </a:t>
            </a:r>
            <a:r>
              <a:rPr lang="en-US" sz="1800" dirty="0" err="1"/>
              <a:t>Gulmohar</a:t>
            </a:r>
            <a:r>
              <a:rPr lang="en-US" sz="1800" dirty="0" smtClean="0"/>
              <a:t>).</a:t>
            </a:r>
          </a:p>
          <a:p>
            <a:endParaRPr lang="en-US" sz="1800" dirty="0"/>
          </a:p>
          <a:p>
            <a:r>
              <a:rPr lang="en-US" sz="1800" b="1" dirty="0" err="1"/>
              <a:t>Soil_Type</a:t>
            </a:r>
            <a:r>
              <a:rPr lang="en-US" sz="1800" b="1" dirty="0"/>
              <a:t> →</a:t>
            </a:r>
            <a:r>
              <a:rPr lang="en-US" sz="1800" dirty="0"/>
              <a:t> Soil classification at plantation site (e.g., Sandy, Clay, Loamy</a:t>
            </a:r>
            <a:r>
              <a:rPr lang="en-US" sz="1800" dirty="0" smtClean="0"/>
              <a:t>).</a:t>
            </a:r>
          </a:p>
          <a:p>
            <a:endParaRPr lang="en-US" sz="1800" dirty="0"/>
          </a:p>
          <a:p>
            <a:r>
              <a:rPr lang="en-US" sz="1800" b="1" dirty="0" err="1"/>
              <a:t>Moisture_Level</a:t>
            </a:r>
            <a:r>
              <a:rPr lang="en-US" sz="1800" b="1" dirty="0"/>
              <a:t> (%) →</a:t>
            </a:r>
            <a:r>
              <a:rPr lang="en-US" sz="1800" dirty="0"/>
              <a:t> Soil moisture recorded through </a:t>
            </a:r>
            <a:r>
              <a:rPr lang="en-US" sz="1800" dirty="0" err="1"/>
              <a:t>IoT</a:t>
            </a:r>
            <a:r>
              <a:rPr lang="en-US" sz="1800" dirty="0"/>
              <a:t> sensors</a:t>
            </a:r>
            <a:r>
              <a:rPr lang="en-US" sz="1800" dirty="0" smtClean="0"/>
              <a:t>.</a:t>
            </a:r>
          </a:p>
          <a:p>
            <a:endParaRPr lang="en-US" sz="1800" dirty="0"/>
          </a:p>
          <a:p>
            <a:r>
              <a:rPr lang="en-US" sz="1800" b="1" dirty="0" err="1"/>
              <a:t>Volunteer_ID</a:t>
            </a:r>
            <a:r>
              <a:rPr lang="en-US" sz="1800" b="1" dirty="0"/>
              <a:t> →</a:t>
            </a:r>
            <a:r>
              <a:rPr lang="en-US" sz="1800" dirty="0"/>
              <a:t> Unique ID of the volunteer/organization responsible for planting or monitoring</a:t>
            </a:r>
            <a:r>
              <a:rPr lang="en-US" sz="1800" dirty="0" smtClean="0"/>
              <a:t>.</a:t>
            </a:r>
          </a:p>
          <a:p>
            <a:endParaRPr lang="en-US" sz="1600" dirty="0"/>
          </a:p>
          <a:p>
            <a:r>
              <a:rPr lang="en-US" sz="1800" b="1" dirty="0" err="1"/>
              <a:t>Tree_Health_Status</a:t>
            </a:r>
            <a:r>
              <a:rPr lang="en-US" sz="1800" b="1" dirty="0"/>
              <a:t> →</a:t>
            </a:r>
            <a:r>
              <a:rPr lang="en-US" sz="1800" dirty="0"/>
              <a:t> Current health status (Alive, Diseased, Dead</a:t>
            </a:r>
            <a:r>
              <a:rPr lang="en-US" sz="1800" dirty="0" smtClean="0"/>
              <a:t>).</a:t>
            </a:r>
          </a:p>
          <a:p>
            <a:endParaRPr lang="en-US" sz="1800" dirty="0"/>
          </a:p>
          <a:p>
            <a:r>
              <a:rPr lang="en-US" sz="1800" b="1" dirty="0" err="1"/>
              <a:t>Growth_Parameters</a:t>
            </a:r>
            <a:r>
              <a:rPr lang="en-US" sz="1800" b="1" dirty="0"/>
              <a:t> →</a:t>
            </a:r>
            <a:r>
              <a:rPr lang="en-US" sz="1800" dirty="0"/>
              <a:t> Recorded growth details such as height, canopy spread, and stem diameter.</a:t>
            </a:r>
          </a:p>
          <a:p>
            <a:endParaRPr lang="en-US" sz="1800" b="0" dirty="0">
              <a:latin typeface="Lato"/>
              <a:ea typeface="Lato"/>
              <a:cs typeface="Lato"/>
            </a:endParaRPr>
          </a:p>
        </p:txBody>
      </p:sp>
    </p:spTree>
    <p:extLst>
      <p:ext uri="{BB962C8B-B14F-4D97-AF65-F5344CB8AC3E}">
        <p14:creationId xmlns:p14="http://schemas.microsoft.com/office/powerpoint/2010/main" val="13079258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D0BBB91-2FB6-B0DF-4C99-F04A9297E2C2}"/>
              </a:ext>
            </a:extLst>
          </p:cNvPr>
          <p:cNvSpPr txBox="1"/>
          <p:nvPr/>
        </p:nvSpPr>
        <p:spPr>
          <a:xfrm>
            <a:off x="427383" y="796505"/>
            <a:ext cx="6102626" cy="666977"/>
          </a:xfrm>
          <a:prstGeom prst="rect">
            <a:avLst/>
          </a:prstGeom>
          <a:noFill/>
        </p:spPr>
        <p:txBody>
          <a:bodyPr wrap="square">
            <a:spAutoFit/>
          </a:bodyPr>
          <a:lstStyle/>
          <a:p>
            <a:r>
              <a:rPr lang="en-US" b="1" dirty="0">
                <a:solidFill>
                  <a:srgbClr val="0070C0"/>
                </a:solidFill>
              </a:rPr>
              <a:t>Methodology</a:t>
            </a:r>
            <a:r>
              <a:rPr lang="en-US" dirty="0"/>
              <a:t/>
            </a:r>
            <a:br>
              <a:rPr lang="en-US" dirty="0"/>
            </a:br>
            <a:endParaRPr lang="en-IN" dirty="0"/>
          </a:p>
        </p:txBody>
      </p:sp>
      <p:sp>
        <p:nvSpPr>
          <p:cNvPr id="7" name="TextBox 6">
            <a:extLst>
              <a:ext uri="{FF2B5EF4-FFF2-40B4-BE49-F238E27FC236}">
                <a16:creationId xmlns="" xmlns:a16="http://schemas.microsoft.com/office/drawing/2014/main" id="{9612ED9C-48F2-C1B1-B84A-1F60FEA470A6}"/>
              </a:ext>
            </a:extLst>
          </p:cNvPr>
          <p:cNvSpPr txBox="1"/>
          <p:nvPr/>
        </p:nvSpPr>
        <p:spPr>
          <a:xfrm>
            <a:off x="301872" y="1129993"/>
            <a:ext cx="9650201" cy="4624536"/>
          </a:xfrm>
          <a:prstGeom prst="rect">
            <a:avLst/>
          </a:prstGeom>
          <a:noFill/>
        </p:spPr>
        <p:txBody>
          <a:bodyPr wrap="square" lIns="91440" tIns="45720" rIns="91440" bIns="45720" anchor="t">
            <a:spAutoFit/>
          </a:bodyPr>
          <a:lstStyle/>
          <a:p>
            <a:pPr marL="139700" indent="0">
              <a:buNone/>
            </a:pPr>
            <a:r>
              <a:rPr lang="en-US" b="1" dirty="0"/>
              <a:t>Approach:</a:t>
            </a:r>
          </a:p>
          <a:p>
            <a:pPr algn="just">
              <a:lnSpc>
                <a:spcPct val="114999"/>
              </a:lnSpc>
            </a:pPr>
            <a:endParaRPr lang="en-US" sz="1800" dirty="0" smtClean="0"/>
          </a:p>
          <a:p>
            <a:pPr algn="just">
              <a:lnSpc>
                <a:spcPct val="114999"/>
              </a:lnSpc>
            </a:pPr>
            <a:r>
              <a:rPr lang="en-US" sz="1800" dirty="0"/>
              <a:t> </a:t>
            </a:r>
            <a:r>
              <a:rPr lang="en-US" sz="1800" dirty="0" smtClean="0"/>
              <a:t>          The </a:t>
            </a:r>
            <a:r>
              <a:rPr lang="en-US" sz="1800" dirty="0"/>
              <a:t>proposed system integrates </a:t>
            </a:r>
            <a:r>
              <a:rPr lang="en-US" sz="1800" b="1" dirty="0"/>
              <a:t>AI-based analysis, </a:t>
            </a:r>
            <a:r>
              <a:rPr lang="en-US" sz="1800" b="1" dirty="0" err="1"/>
              <a:t>IoT</a:t>
            </a:r>
            <a:r>
              <a:rPr lang="en-US" sz="1800" b="1" dirty="0"/>
              <a:t> monitoring, and community participation</a:t>
            </a:r>
            <a:r>
              <a:rPr lang="en-US" sz="1800" dirty="0"/>
              <a:t> to ensure effective tree plantation and sustainable growth. The methodology is divided into the following phases:</a:t>
            </a:r>
          </a:p>
          <a:p>
            <a:pPr>
              <a:lnSpc>
                <a:spcPct val="114999"/>
              </a:lnSpc>
            </a:pPr>
            <a:endParaRPr lang="en-US" sz="1850" dirty="0"/>
          </a:p>
          <a:p>
            <a:pPr marL="457200" indent="-457200">
              <a:lnSpc>
                <a:spcPct val="114999"/>
              </a:lnSpc>
              <a:buAutoNum type="arabicPeriod"/>
            </a:pPr>
            <a:r>
              <a:rPr lang="en-US" b="1" dirty="0" smtClean="0"/>
              <a:t>Data Collection</a:t>
            </a:r>
          </a:p>
          <a:p>
            <a:pPr marL="457200" indent="-457200">
              <a:lnSpc>
                <a:spcPct val="114999"/>
              </a:lnSpc>
              <a:buAutoNum type="arabicPeriod"/>
            </a:pPr>
            <a:endParaRPr lang="en-US" b="1" dirty="0" smtClean="0"/>
          </a:p>
          <a:p>
            <a:pPr>
              <a:lnSpc>
                <a:spcPct val="114999"/>
              </a:lnSpc>
            </a:pPr>
            <a:endParaRPr lang="en-US" b="1" dirty="0"/>
          </a:p>
          <a:p>
            <a:pPr marL="139700" indent="0">
              <a:lnSpc>
                <a:spcPct val="114999"/>
              </a:lnSpc>
              <a:buNone/>
            </a:pPr>
            <a:endParaRPr lang="en-US" dirty="0"/>
          </a:p>
          <a:p>
            <a:pPr>
              <a:lnSpc>
                <a:spcPct val="114999"/>
              </a:lnSpc>
              <a:buNone/>
            </a:pPr>
            <a:endParaRPr lang="en-US" b="1" dirty="0" smtClean="0"/>
          </a:p>
          <a:p>
            <a:pPr>
              <a:lnSpc>
                <a:spcPct val="114999"/>
              </a:lnSpc>
              <a:buNone/>
            </a:pPr>
            <a:r>
              <a:rPr lang="en-US" b="1" dirty="0" smtClean="0"/>
              <a:t>2</a:t>
            </a:r>
            <a:r>
              <a:rPr lang="en-US" b="1" dirty="0"/>
              <a:t>. Preprocessing &amp; Feature Engineering</a:t>
            </a:r>
          </a:p>
          <a:p>
            <a:pPr>
              <a:lnSpc>
                <a:spcPct val="114999"/>
              </a:lnSpc>
              <a:buNone/>
            </a:pPr>
            <a:endParaRPr lang="en-US" dirty="0"/>
          </a:p>
          <a:p>
            <a:pPr>
              <a:lnSpc>
                <a:spcPct val="114999"/>
              </a:lnSpc>
              <a:buFont typeface="Arial"/>
              <a:buChar char="•"/>
            </a:pPr>
            <a:endParaRPr lang="en-US" dirty="0"/>
          </a:p>
        </p:txBody>
      </p:sp>
      <p:sp>
        <p:nvSpPr>
          <p:cNvPr id="4" name="Rectangle 2"/>
          <p:cNvSpPr>
            <a:spLocks noChangeArrowheads="1"/>
          </p:cNvSpPr>
          <p:nvPr/>
        </p:nvSpPr>
        <p:spPr bwMode="auto">
          <a:xfrm>
            <a:off x="1254642" y="3296392"/>
            <a:ext cx="1016472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Gather environmental data (soil type, rainfall, temperature, humidity).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Collect tree species databases (native species, growth requirements, survival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Record plantation data (date, location, volunteer, sapling type).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Acquire monitoring data from </a:t>
            </a:r>
            <a:r>
              <a:rPr kumimoji="0" lang="en-US" sz="1800" b="0" i="0" u="none" strike="noStrike" cap="none" normalizeH="0" baseline="0" dirty="0" err="1" smtClean="0">
                <a:ln>
                  <a:noFill/>
                </a:ln>
                <a:solidFill>
                  <a:schemeClr val="tx1"/>
                </a:solidFill>
                <a:effectLst/>
                <a:latin typeface="Arial" panose="020B0604020202020204" pitchFamily="34" charset="0"/>
              </a:rPr>
              <a:t>IoT</a:t>
            </a:r>
            <a:r>
              <a:rPr kumimoji="0" lang="en-US" sz="1800" b="0" i="0" u="none" strike="noStrike" cap="none" normalizeH="0" baseline="0" dirty="0" smtClean="0">
                <a:ln>
                  <a:noFill/>
                </a:ln>
                <a:solidFill>
                  <a:schemeClr val="tx1"/>
                </a:solidFill>
                <a:effectLst/>
                <a:latin typeface="Arial" panose="020B0604020202020204" pitchFamily="34" charset="0"/>
              </a:rPr>
              <a:t> sensors, drones, or satellite images.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1254642" y="55501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Clean and organize raw datasets (remove missing/duplicate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Generate derived features (year, month, zone-wise averages, species survival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Integrate geospatial data with plantation records for spatial analysis.</a:t>
            </a:r>
          </a:p>
        </p:txBody>
      </p:sp>
    </p:spTree>
    <p:extLst>
      <p:ext uri="{BB962C8B-B14F-4D97-AF65-F5344CB8AC3E}">
        <p14:creationId xmlns:p14="http://schemas.microsoft.com/office/powerpoint/2010/main" val="7366927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14C3130-0DA5-C059-27E3-FC63180AF941}"/>
              </a:ext>
            </a:extLst>
          </p:cNvPr>
          <p:cNvSpPr txBox="1"/>
          <p:nvPr/>
        </p:nvSpPr>
        <p:spPr>
          <a:xfrm>
            <a:off x="314354" y="1126822"/>
            <a:ext cx="9988826" cy="3908762"/>
          </a:xfrm>
          <a:prstGeom prst="rect">
            <a:avLst/>
          </a:prstGeom>
          <a:noFill/>
        </p:spPr>
        <p:txBody>
          <a:bodyPr wrap="square" lIns="91440" tIns="45720" rIns="91440" bIns="45720" anchor="t">
            <a:spAutoFit/>
          </a:bodyPr>
          <a:lstStyle/>
          <a:p>
            <a:pPr lvl="0"/>
            <a:r>
              <a:rPr lang="en-US" sz="1850" b="1" dirty="0" smtClean="0"/>
              <a:t>3.</a:t>
            </a:r>
            <a:r>
              <a:rPr lang="en-US" sz="1800" dirty="0"/>
              <a:t> </a:t>
            </a:r>
            <a:r>
              <a:rPr lang="en-US" sz="1800" b="1" dirty="0"/>
              <a:t>AI-based Plantation </a:t>
            </a:r>
            <a:r>
              <a:rPr lang="en-US" sz="1800" b="1" dirty="0" smtClean="0"/>
              <a:t>Planning</a:t>
            </a:r>
          </a:p>
          <a:p>
            <a:pPr marL="285750" lvl="0" indent="-285750">
              <a:buFont typeface="Arial" panose="020B0604020202020204" pitchFamily="34" charset="0"/>
              <a:buChar char="•"/>
            </a:pPr>
            <a:r>
              <a:rPr lang="en-US" sz="1800" b="1" dirty="0">
                <a:solidFill>
                  <a:schemeClr val="tx1"/>
                </a:solidFill>
                <a:latin typeface="Arial" panose="020B0604020202020204" pitchFamily="34" charset="0"/>
              </a:rPr>
              <a:t> </a:t>
            </a:r>
            <a:r>
              <a:rPr lang="en-US" sz="1800" b="1" dirty="0" smtClean="0">
                <a:solidFill>
                  <a:schemeClr val="tx1"/>
                </a:solidFill>
                <a:latin typeface="Arial" panose="020B0604020202020204" pitchFamily="34" charset="0"/>
              </a:rPr>
              <a:t>     </a:t>
            </a:r>
            <a:r>
              <a:rPr lang="en-US" sz="2000" dirty="0" smtClean="0">
                <a:solidFill>
                  <a:schemeClr val="tx1"/>
                </a:solidFill>
                <a:latin typeface="Arial" panose="020B0604020202020204" pitchFamily="34" charset="0"/>
              </a:rPr>
              <a:t>Use </a:t>
            </a:r>
            <a:r>
              <a:rPr lang="en-US" sz="2000" dirty="0">
                <a:solidFill>
                  <a:schemeClr val="tx1"/>
                </a:solidFill>
                <a:latin typeface="Arial" panose="020B0604020202020204" pitchFamily="34" charset="0"/>
              </a:rPr>
              <a:t>machine learning models to recommend suitable tree species for specific soil and climatic conditions.</a:t>
            </a:r>
          </a:p>
          <a:p>
            <a:endParaRPr lang="en-US" sz="1850" b="1" dirty="0"/>
          </a:p>
          <a:p>
            <a:endParaRPr lang="en-US" sz="2000" dirty="0">
              <a:latin typeface="Lato"/>
            </a:endParaRPr>
          </a:p>
          <a:p>
            <a:endParaRPr lang="en-US" sz="2000" dirty="0"/>
          </a:p>
          <a:p>
            <a:r>
              <a:rPr lang="en-US" sz="1850" b="1" dirty="0" smtClean="0"/>
              <a:t>4.</a:t>
            </a:r>
            <a:r>
              <a:rPr lang="en-US" sz="1800" dirty="0"/>
              <a:t> </a:t>
            </a:r>
            <a:r>
              <a:rPr lang="en-US" sz="1800" b="1" dirty="0"/>
              <a:t>Smart Monitoring System</a:t>
            </a:r>
            <a:endParaRPr lang="en-US" sz="1800" b="1" dirty="0">
              <a:latin typeface="Lato"/>
            </a:endParaRPr>
          </a:p>
          <a:p>
            <a:pPr marL="457200" indent="-457200">
              <a:buFont typeface="Arial"/>
              <a:buChar char="•"/>
            </a:pPr>
            <a:endParaRPr lang="en-US" sz="1850" dirty="0">
              <a:latin typeface="Lato"/>
            </a:endParaRPr>
          </a:p>
          <a:p>
            <a:endParaRPr lang="en-US" sz="1850" b="1" dirty="0" smtClean="0"/>
          </a:p>
          <a:p>
            <a:endParaRPr lang="en-US" sz="1850" b="1" dirty="0"/>
          </a:p>
          <a:p>
            <a:endParaRPr lang="en-US" sz="1850" b="1" dirty="0" smtClean="0"/>
          </a:p>
          <a:p>
            <a:r>
              <a:rPr lang="en-US" sz="1850" b="1" dirty="0" smtClean="0"/>
              <a:t>5</a:t>
            </a:r>
            <a:r>
              <a:rPr lang="en-US" sz="1850" b="1" dirty="0"/>
              <a:t>. </a:t>
            </a:r>
            <a:r>
              <a:rPr lang="en-US" sz="1800" b="1" dirty="0"/>
              <a:t>Volunteer Integration</a:t>
            </a:r>
            <a:endParaRPr lang="en-US" sz="1850" b="1" dirty="0"/>
          </a:p>
          <a:p>
            <a:endParaRPr lang="en-US" sz="2000" dirty="0"/>
          </a:p>
        </p:txBody>
      </p:sp>
      <p:sp>
        <p:nvSpPr>
          <p:cNvPr id="2" name="Rectangle 1"/>
          <p:cNvSpPr>
            <a:spLocks noChangeArrowheads="1"/>
          </p:cNvSpPr>
          <p:nvPr/>
        </p:nvSpPr>
        <p:spPr bwMode="auto">
          <a:xfrm>
            <a:off x="314355" y="2069160"/>
            <a:ext cx="94675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Identify optimal plantation sites using GIS and spatial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Predict sapling survival probability based on historical data.</a:t>
            </a:r>
          </a:p>
        </p:txBody>
      </p:sp>
      <p:sp>
        <p:nvSpPr>
          <p:cNvPr id="4" name="Rectangle 2"/>
          <p:cNvSpPr>
            <a:spLocks noChangeArrowheads="1"/>
          </p:cNvSpPr>
          <p:nvPr/>
        </p:nvSpPr>
        <p:spPr bwMode="auto">
          <a:xfrm>
            <a:off x="314354" y="3379247"/>
            <a:ext cx="998882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Deploy </a:t>
            </a:r>
            <a:r>
              <a:rPr kumimoji="0" lang="en-US" sz="1800" b="0" i="0" u="none" strike="noStrike" cap="none" normalizeH="0" baseline="0" dirty="0" err="1" smtClean="0">
                <a:ln>
                  <a:noFill/>
                </a:ln>
                <a:solidFill>
                  <a:schemeClr val="tx1"/>
                </a:solidFill>
                <a:effectLst/>
                <a:latin typeface="Arial" panose="020B0604020202020204" pitchFamily="34" charset="0"/>
              </a:rPr>
              <a:t>IoT</a:t>
            </a:r>
            <a:r>
              <a:rPr kumimoji="0" lang="en-US" sz="1800" b="0" i="0" u="none" strike="noStrike" cap="none" normalizeH="0" baseline="0" dirty="0" smtClean="0">
                <a:ln>
                  <a:noFill/>
                </a:ln>
                <a:solidFill>
                  <a:schemeClr val="tx1"/>
                </a:solidFill>
                <a:effectLst/>
                <a:latin typeface="Arial" panose="020B0604020202020204" pitchFamily="34" charset="0"/>
              </a:rPr>
              <a:t> sensors to track soil moisture, temperature, and growth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Use AI models for disease/pest detection from images (drone/satellite).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Generate alerts for low survival probability or abnormal growth patterns.</a:t>
            </a:r>
          </a:p>
        </p:txBody>
      </p:sp>
      <p:sp>
        <p:nvSpPr>
          <p:cNvPr id="5" name="Rectangle 3"/>
          <p:cNvSpPr>
            <a:spLocks noChangeArrowheads="1"/>
          </p:cNvSpPr>
          <p:nvPr/>
        </p:nvSpPr>
        <p:spPr bwMode="auto">
          <a:xfrm>
            <a:off x="314353" y="4897085"/>
            <a:ext cx="1146652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Develop a mobile/web platform for green volunteers to register, adopt trees, and upload plantation/monitoring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Assign plantation/maintenance tasks based on location and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Reward volunteers through a points or recognition system to encourage participation.</a:t>
            </a:r>
          </a:p>
        </p:txBody>
      </p:sp>
    </p:spTree>
    <p:extLst>
      <p:ext uri="{BB962C8B-B14F-4D97-AF65-F5344CB8AC3E}">
        <p14:creationId xmlns:p14="http://schemas.microsoft.com/office/powerpoint/2010/main" val="17724608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D713AC67-BFCA-1235-B510-EE7B4F4BD77E}"/>
              </a:ext>
            </a:extLst>
          </p:cNvPr>
          <p:cNvSpPr txBox="1"/>
          <p:nvPr/>
        </p:nvSpPr>
        <p:spPr>
          <a:xfrm>
            <a:off x="602510" y="1206301"/>
            <a:ext cx="8746435" cy="6078972"/>
          </a:xfrm>
          <a:prstGeom prst="rect">
            <a:avLst/>
          </a:prstGeom>
          <a:noFill/>
        </p:spPr>
        <p:txBody>
          <a:bodyPr wrap="square" lIns="91440" tIns="45720" rIns="91440" bIns="45720" anchor="t">
            <a:spAutoFit/>
          </a:bodyPr>
          <a:lstStyle/>
          <a:p>
            <a:r>
              <a:rPr lang="en-US" sz="1850" b="1" dirty="0"/>
              <a:t>5</a:t>
            </a:r>
            <a:r>
              <a:rPr lang="en-US" sz="1850" b="1" dirty="0" smtClean="0"/>
              <a:t>. </a:t>
            </a:r>
            <a:r>
              <a:rPr lang="en-US" sz="2000" b="1" dirty="0"/>
              <a:t>Volunteer Integration</a:t>
            </a:r>
            <a:endParaRPr lang="en-US" sz="2400" b="1" dirty="0"/>
          </a:p>
          <a:p>
            <a:r>
              <a:rPr lang="en-US" sz="1850" b="1" dirty="0"/>
              <a:t/>
            </a:r>
            <a:br>
              <a:rPr lang="en-US" sz="1850" b="1" dirty="0"/>
            </a:br>
            <a:endParaRPr lang="en-US" dirty="0"/>
          </a:p>
          <a:p>
            <a:pPr marL="285750" lvl="0" indent="-285750" eaLnBrk="0" fontAlgn="base" hangingPunct="0">
              <a:spcBef>
                <a:spcPct val="0"/>
              </a:spcBef>
              <a:spcAft>
                <a:spcPct val="0"/>
              </a:spcAft>
              <a:buClrTx/>
              <a:buFont typeface="Arial" panose="020B0604020202020204" pitchFamily="34" charset="0"/>
              <a:buChar char="•"/>
            </a:pPr>
            <a:r>
              <a:rPr lang="en-US" dirty="0" smtClean="0"/>
              <a:t>.</a:t>
            </a:r>
            <a:r>
              <a:rPr lang="en-US" sz="1800" dirty="0" smtClean="0">
                <a:solidFill>
                  <a:schemeClr val="tx1"/>
                </a:solidFill>
                <a:latin typeface="Arial" panose="020B0604020202020204" pitchFamily="34" charset="0"/>
              </a:rPr>
              <a:t>   Develop </a:t>
            </a:r>
            <a:r>
              <a:rPr lang="en-US" sz="1800" dirty="0">
                <a:solidFill>
                  <a:schemeClr val="tx1"/>
                </a:solidFill>
                <a:latin typeface="Arial" panose="020B0604020202020204" pitchFamily="34" charset="0"/>
              </a:rPr>
              <a:t>a mobile/web platform for green volunteers to register, adopt trees, and upload plantation/monitoring updates.</a:t>
            </a:r>
          </a:p>
          <a:p>
            <a:pPr lvl="0" eaLnBrk="0" fontAlgn="base" hangingPunct="0">
              <a:spcBef>
                <a:spcPct val="0"/>
              </a:spcBef>
              <a:spcAft>
                <a:spcPct val="0"/>
              </a:spcAft>
              <a:buClrTx/>
              <a:buFontTx/>
              <a:buChar char="•"/>
            </a:pP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lang="en-US" sz="1800" dirty="0">
                <a:solidFill>
                  <a:schemeClr val="tx1"/>
                </a:solidFill>
                <a:latin typeface="Arial" panose="020B0604020202020204" pitchFamily="34" charset="0"/>
              </a:rPr>
              <a:t>Assign plantation/maintenance tasks based on location and availability.</a:t>
            </a:r>
          </a:p>
          <a:p>
            <a:pPr lvl="0" eaLnBrk="0" fontAlgn="base" hangingPunct="0">
              <a:spcBef>
                <a:spcPct val="0"/>
              </a:spcBef>
              <a:spcAft>
                <a:spcPct val="0"/>
              </a:spcAft>
              <a:buClrTx/>
              <a:buFontTx/>
              <a:buChar char="•"/>
            </a:pP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lang="en-US" sz="1800" dirty="0">
                <a:solidFill>
                  <a:schemeClr val="tx1"/>
                </a:solidFill>
                <a:latin typeface="Arial" panose="020B0604020202020204" pitchFamily="34" charset="0"/>
              </a:rPr>
              <a:t>Reward volunteers through a points or recognition system to encourage participation.</a:t>
            </a:r>
            <a:endParaRPr lang="en-US" dirty="0"/>
          </a:p>
          <a:p>
            <a:endParaRPr lang="en-US" sz="1850" b="1" dirty="0" smtClean="0"/>
          </a:p>
          <a:p>
            <a:r>
              <a:rPr lang="en-US" b="1" dirty="0" smtClean="0"/>
              <a:t>6. Analysis </a:t>
            </a:r>
            <a:r>
              <a:rPr lang="en-US" b="1" dirty="0"/>
              <a:t>&amp; Reporting</a:t>
            </a:r>
            <a:endParaRPr lang="en-US" dirty="0"/>
          </a:p>
          <a:p>
            <a:pPr marL="342900" lvl="1" indent="-342900">
              <a:buFont typeface="Arial" panose="020B0604020202020204" pitchFamily="34" charset="0"/>
              <a:buChar char="•"/>
            </a:pPr>
            <a:r>
              <a:rPr lang="en-US" dirty="0" smtClean="0"/>
              <a:t>  Perform </a:t>
            </a:r>
            <a:r>
              <a:rPr lang="en-US" dirty="0"/>
              <a:t>zone-wise and species-wise survival analysis.</a:t>
            </a:r>
          </a:p>
          <a:p>
            <a:pPr marL="342900" lvl="1" indent="-342900">
              <a:buFont typeface="Arial" panose="020B0604020202020204" pitchFamily="34" charset="0"/>
              <a:buChar char="•"/>
            </a:pPr>
            <a:r>
              <a:rPr lang="en-US" dirty="0" smtClean="0"/>
              <a:t>  Generate </a:t>
            </a:r>
            <a:r>
              <a:rPr lang="en-US" dirty="0"/>
              <a:t>monthly and yearly plantation/health reports.</a:t>
            </a:r>
          </a:p>
          <a:p>
            <a:pPr marL="342900" lvl="1" indent="-342900">
              <a:buFont typeface="Arial" panose="020B0604020202020204" pitchFamily="34" charset="0"/>
              <a:buChar char="•"/>
            </a:pPr>
            <a:r>
              <a:rPr lang="en-US" dirty="0" smtClean="0"/>
              <a:t>   Provide </a:t>
            </a:r>
            <a:r>
              <a:rPr lang="en-US" dirty="0"/>
              <a:t>insights to improve plantation strategies and policies.</a:t>
            </a:r>
          </a:p>
          <a:p>
            <a:pPr marL="342900" indent="-342900">
              <a:buFont typeface="Arial" panose="020B0604020202020204" pitchFamily="34" charset="0"/>
              <a:buChar char="•"/>
            </a:pPr>
            <a:endParaRPr lang="en-US" sz="1850" b="1" dirty="0"/>
          </a:p>
          <a:p>
            <a:endParaRPr lang="en-US" sz="1850" b="1" dirty="0" smtClean="0"/>
          </a:p>
          <a:p>
            <a:endParaRPr lang="en-US" sz="1850" b="1" dirty="0"/>
          </a:p>
          <a:p>
            <a:endParaRPr lang="en-US" sz="1850" b="1" dirty="0" smtClean="0"/>
          </a:p>
          <a:p>
            <a:endParaRPr lang="en-US" sz="1850" b="1" dirty="0"/>
          </a:p>
          <a:p>
            <a:endParaRPr lang="en-US" sz="1850" b="1" dirty="0" smtClean="0"/>
          </a:p>
          <a:p>
            <a:endParaRPr lang="en-US" sz="1850" b="1" dirty="0"/>
          </a:p>
          <a:p>
            <a:endParaRPr lang="en-US" sz="1850" b="1" dirty="0"/>
          </a:p>
        </p:txBody>
      </p:sp>
    </p:spTree>
    <p:extLst>
      <p:ext uri="{BB962C8B-B14F-4D97-AF65-F5344CB8AC3E}">
        <p14:creationId xmlns:p14="http://schemas.microsoft.com/office/powerpoint/2010/main" val="19187574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D3E3D2A-C54A-1FDC-5486-7D289FFB66CE}"/>
              </a:ext>
            </a:extLst>
          </p:cNvPr>
          <p:cNvSpPr txBox="1"/>
          <p:nvPr/>
        </p:nvSpPr>
        <p:spPr>
          <a:xfrm>
            <a:off x="209107" y="925726"/>
            <a:ext cx="11887200" cy="4062651"/>
          </a:xfrm>
          <a:prstGeom prst="rect">
            <a:avLst/>
          </a:prstGeom>
          <a:noFill/>
        </p:spPr>
        <p:txBody>
          <a:bodyPr wrap="square" lIns="91440" tIns="45720" rIns="91440" bIns="45720" anchor="t">
            <a:spAutoFit/>
          </a:bodyPr>
          <a:lstStyle/>
          <a:p>
            <a:pPr algn="just"/>
            <a:r>
              <a:rPr lang="en-US" sz="2000" b="1" dirty="0" smtClean="0">
                <a:solidFill>
                  <a:srgbClr val="0070C0"/>
                </a:solidFill>
              </a:rPr>
              <a:t>  Conclusion</a:t>
            </a:r>
            <a:r>
              <a:rPr lang="en-US" sz="1850" dirty="0"/>
              <a:t/>
            </a:r>
            <a:br>
              <a:rPr lang="en-US" sz="1850" dirty="0"/>
            </a:br>
            <a:r>
              <a:rPr lang="en-US" sz="2400" dirty="0">
                <a:latin typeface="Lato"/>
              </a:rPr>
              <a:t> </a:t>
            </a:r>
            <a:r>
              <a:rPr lang="en-US" sz="2400" dirty="0" smtClean="0">
                <a:latin typeface="Lato"/>
              </a:rPr>
              <a:t>       </a:t>
            </a:r>
            <a:r>
              <a:rPr lang="en-US" sz="2000" dirty="0" smtClean="0"/>
              <a:t>Tree </a:t>
            </a:r>
            <a:r>
              <a:rPr lang="en-US" sz="2000" dirty="0"/>
              <a:t>plantation alone is not enough to combat the challenges of climate change, urbanization, and </a:t>
            </a:r>
            <a:r>
              <a:rPr lang="en-US" sz="2000" dirty="0" smtClean="0"/>
              <a:t> </a:t>
            </a:r>
          </a:p>
          <a:p>
            <a:pPr algn="just"/>
            <a:r>
              <a:rPr lang="en-US" sz="2000" dirty="0" smtClean="0"/>
              <a:t>biodiversity </a:t>
            </a:r>
            <a:r>
              <a:rPr lang="en-US" sz="2000" dirty="0"/>
              <a:t>loss; long-term survival and monitoring are equally important. The proposed system addresses these issues by integrating </a:t>
            </a:r>
            <a:r>
              <a:rPr lang="en-US" sz="2000" b="1" dirty="0"/>
              <a:t>AI-based planning, real-time monitoring technologies, and active participation of green volunteers</a:t>
            </a:r>
            <a:r>
              <a:rPr lang="en-US" sz="2000" dirty="0"/>
              <a:t>.</a:t>
            </a:r>
          </a:p>
          <a:p>
            <a:pPr algn="just"/>
            <a:endParaRPr lang="en-US" sz="1800" b="1" dirty="0">
              <a:solidFill>
                <a:schemeClr val="accent5">
                  <a:lumMod val="40000"/>
                  <a:lumOff val="60000"/>
                </a:schemeClr>
              </a:solidFill>
            </a:endParaRPr>
          </a:p>
          <a:p>
            <a:pPr algn="just"/>
            <a:r>
              <a:rPr lang="en-US" sz="1800" b="1" dirty="0" smtClean="0">
                <a:solidFill>
                  <a:schemeClr val="accent5">
                    <a:lumMod val="40000"/>
                    <a:lumOff val="60000"/>
                  </a:schemeClr>
                </a:solidFill>
              </a:rPr>
              <a:t>   FUTURE WORK</a:t>
            </a:r>
            <a:endParaRPr lang="en-US" sz="1800" b="1" dirty="0">
              <a:solidFill>
                <a:schemeClr val="accent5">
                  <a:lumMod val="40000"/>
                  <a:lumOff val="60000"/>
                </a:schemeClr>
              </a:solidFill>
            </a:endParaRPr>
          </a:p>
          <a:p>
            <a:pPr marL="285750" indent="-285750" algn="just">
              <a:buFont typeface="Arial" panose="020B0604020202020204" pitchFamily="34" charset="0"/>
              <a:buChar char="•"/>
            </a:pPr>
            <a:endParaRPr lang="en-US" sz="1800" dirty="0" smtClean="0"/>
          </a:p>
          <a:p>
            <a:pPr marL="342900" indent="-342900" algn="just">
              <a:buFont typeface="Arial" panose="020B0604020202020204" pitchFamily="34" charset="0"/>
              <a:buChar char="•"/>
            </a:pPr>
            <a:r>
              <a:rPr lang="en-US" sz="2000" dirty="0" smtClean="0"/>
              <a:t>        In </a:t>
            </a:r>
            <a:r>
              <a:rPr lang="en-US" sz="2000" dirty="0"/>
              <a:t>future, advanced AI models can be used for tree health monitoring and growth prediction. </a:t>
            </a:r>
            <a:r>
              <a:rPr lang="en-US" sz="2000" dirty="0" smtClean="0"/>
              <a:t>IOT </a:t>
            </a:r>
            <a:r>
              <a:rPr lang="en-US" sz="2000" dirty="0"/>
              <a:t>sensors and drones may support real-time plantation tracking. </a:t>
            </a:r>
            <a:r>
              <a:rPr lang="en-US" sz="2000" dirty="0" err="1"/>
              <a:t>Blockchain</a:t>
            </a:r>
            <a:r>
              <a:rPr lang="en-US" sz="2000" dirty="0"/>
              <a:t> can ensure transparency of volunteer contributions. Mobile apps can engage green volunteers with tasks and rewards. AI-based smart irrigation will save water, and predictive analytics can estimate climate benefits. The system can be scaled for city/state-level adoption with government and NGO support.</a:t>
            </a:r>
            <a:endParaRPr lang="en-IN" sz="2000" dirty="0"/>
          </a:p>
        </p:txBody>
      </p:sp>
    </p:spTree>
    <p:extLst>
      <p:ext uri="{BB962C8B-B14F-4D97-AF65-F5344CB8AC3E}">
        <p14:creationId xmlns:p14="http://schemas.microsoft.com/office/powerpoint/2010/main" val="27014851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0AF284F-D503-6A2E-544B-2D37EC1B4791}"/>
              </a:ext>
            </a:extLst>
          </p:cNvPr>
          <p:cNvSpPr txBox="1"/>
          <p:nvPr/>
        </p:nvSpPr>
        <p:spPr>
          <a:xfrm>
            <a:off x="652607" y="1528532"/>
            <a:ext cx="10873409" cy="4331955"/>
          </a:xfrm>
          <a:prstGeom prst="rect">
            <a:avLst/>
          </a:prstGeom>
          <a:noFill/>
        </p:spPr>
        <p:txBody>
          <a:bodyPr wrap="square" lIns="91440" tIns="45720" rIns="91440" bIns="45720" anchor="t">
            <a:spAutoFit/>
          </a:bodyPr>
          <a:lstStyle/>
          <a:p>
            <a:pPr algn="just"/>
            <a:r>
              <a:rPr lang="en-US" sz="2000" dirty="0" smtClean="0"/>
              <a:t>         By </a:t>
            </a:r>
            <a:r>
              <a:rPr lang="en-US" sz="2000" dirty="0"/>
              <a:t>leveraging environmental data, IOT sensors, and machine learning, the system ensures </a:t>
            </a:r>
            <a:r>
              <a:rPr lang="en-US" sz="2000" b="1" dirty="0"/>
              <a:t>scientific plantation planning, early detection of threats, and continuous growth tracking</a:t>
            </a:r>
            <a:r>
              <a:rPr lang="en-US" sz="2000" dirty="0"/>
              <a:t>. At the same time, volunteer engagement fosters </a:t>
            </a:r>
            <a:r>
              <a:rPr lang="en-US" sz="2000" b="1" dirty="0"/>
              <a:t>community ownership, accountability, and awareness</a:t>
            </a:r>
            <a:r>
              <a:rPr lang="en-US" sz="2000" dirty="0"/>
              <a:t> in sustaining green cover.</a:t>
            </a:r>
          </a:p>
          <a:p>
            <a:pPr algn="just"/>
            <a:r>
              <a:rPr lang="en-US" sz="2000" b="0" dirty="0" smtClean="0"/>
              <a:t>        </a:t>
            </a:r>
          </a:p>
          <a:p>
            <a:pPr algn="just"/>
            <a:r>
              <a:rPr lang="en-US" sz="2000" dirty="0"/>
              <a:t> </a:t>
            </a:r>
            <a:r>
              <a:rPr lang="en-US" sz="2000" dirty="0" smtClean="0"/>
              <a:t>          This </a:t>
            </a:r>
            <a:r>
              <a:rPr lang="en-US" sz="2000" dirty="0"/>
              <a:t>combination of </a:t>
            </a:r>
            <a:r>
              <a:rPr lang="en-US" sz="2000" b="1" dirty="0"/>
              <a:t>technology and community-driven action</a:t>
            </a:r>
            <a:r>
              <a:rPr lang="en-US" sz="2000" dirty="0"/>
              <a:t> creates a scalable and sustainable model for afforestation and urban greening. Ultimately, it not only improves sapling survival rates but also contributes to </a:t>
            </a:r>
            <a:r>
              <a:rPr lang="en-US" sz="2000" b="1" dirty="0"/>
              <a:t>environmental restoration, improved air quality, and climate resilience</a:t>
            </a:r>
            <a:r>
              <a:rPr lang="en-US" sz="2000" dirty="0"/>
              <a:t>.</a:t>
            </a:r>
          </a:p>
          <a:p>
            <a:pPr algn="just"/>
            <a:endParaRPr lang="en-US" sz="2000" dirty="0"/>
          </a:p>
          <a:p>
            <a:pPr algn="just"/>
            <a:r>
              <a:rPr lang="en-US" sz="2000" b="0" dirty="0" smtClean="0"/>
              <a:t>         I</a:t>
            </a:r>
            <a:r>
              <a:rPr lang="en-US" sz="1850" b="0" dirty="0" smtClean="0"/>
              <a:t>n </a:t>
            </a:r>
            <a:r>
              <a:rPr lang="en-US" sz="1850" b="0" dirty="0"/>
              <a:t>conclusion, the project demonstrates that combining AI prediction models with sustainable rainwater harvesting practices can create a scalable and eco-friendly solution for addressing urban water challenges. This framework can be extended to other cities, making it a valuable step toward achieving long-term water security and climate resilience.</a:t>
            </a:r>
            <a:endParaRPr lang="en-IN" sz="1850" dirty="0"/>
          </a:p>
        </p:txBody>
      </p:sp>
    </p:spTree>
    <p:extLst>
      <p:ext uri="{BB962C8B-B14F-4D97-AF65-F5344CB8AC3E}">
        <p14:creationId xmlns:p14="http://schemas.microsoft.com/office/powerpoint/2010/main" val="7468906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hlinkClick r:id="rId2"/>
            <a:extLst>
              <a:ext uri="{FF2B5EF4-FFF2-40B4-BE49-F238E27FC236}">
                <a16:creationId xmlns="" xmlns:a16="http://schemas.microsoft.com/office/drawing/2014/main" id="{B5AA48E1-8EFB-1FE6-4C25-C737C84B5D15}"/>
              </a:ext>
            </a:extLst>
          </p:cNvPr>
          <p:cNvSpPr txBox="1"/>
          <p:nvPr/>
        </p:nvSpPr>
        <p:spPr>
          <a:xfrm>
            <a:off x="725556" y="1138031"/>
            <a:ext cx="1946367" cy="377026"/>
          </a:xfrm>
          <a:prstGeom prst="rect">
            <a:avLst/>
          </a:prstGeom>
          <a:noFill/>
        </p:spPr>
        <p:txBody>
          <a:bodyPr wrap="none" lIns="91440" tIns="45720" rIns="91440" bIns="45720" rtlCol="0" anchor="t">
            <a:spAutoFit/>
          </a:bodyPr>
          <a:lstStyle/>
          <a:p>
            <a:r>
              <a:rPr lang="en-IN" sz="1850" b="1" u="sng" dirty="0" smtClean="0">
                <a:solidFill>
                  <a:srgbClr val="0070C0"/>
                </a:solidFill>
                <a:hlinkClick r:id="rId3"/>
              </a:rPr>
              <a:t>Reference Link</a:t>
            </a:r>
            <a:r>
              <a:rPr lang="en-IN" sz="1850" b="1" dirty="0" smtClean="0">
                <a:solidFill>
                  <a:srgbClr val="0070C0"/>
                </a:solidFill>
              </a:rPr>
              <a:t> </a:t>
            </a:r>
            <a:endParaRPr lang="en-US" dirty="0"/>
          </a:p>
        </p:txBody>
      </p:sp>
    </p:spTree>
    <p:extLst>
      <p:ext uri="{BB962C8B-B14F-4D97-AF65-F5344CB8AC3E}">
        <p14:creationId xmlns:p14="http://schemas.microsoft.com/office/powerpoint/2010/main" val="41406523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559A34-456E-49A1-8157-9E3D18BFAD36}">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c0fa2617-96bd-425d-8578-e93563fe37c5"/>
    <ds:schemaRef ds:uri="http://schemas.microsoft.com/office/2006/documentManagement/types"/>
    <ds:schemaRef ds:uri="9162bd5b-4ed9-4da3-b376-05204580ba3f"/>
    <ds:schemaRef ds:uri="http://www.w3.org/XML/1998/namespace"/>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7D9E5D5E-A365-4A49-8140-C8CC82A61608}">
  <ds:schemaRefs>
    <ds:schemaRef ds:uri="http://schemas.microsoft.com/office/2006/metadata/contentType"/>
    <ds:schemaRef ds:uri="http://schemas.microsoft.com/office/2006/metadata/properties/metaAttributes"/>
    <ds:schemaRef ds:uri="http://www.w3.org/2000/xmlns/"/>
    <ds:schemaRef ds:uri="http://www.w3.org/2001/XMLSchema"/>
    <ds:schemaRef ds:uri="9162bd5b-4ed9-4da3-b376-05204580ba3f"/>
    <ds:schemaRef ds:uri="c0fa2617-96bd-425d-8578-e93563fe37c5"/>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4358</TotalTime>
  <Words>924</Words>
  <Application>Microsoft Office PowerPoint</Application>
  <PresentationFormat>Widescreen</PresentationFormat>
  <Paragraphs>132</Paragraphs>
  <Slides>14</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Lato</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Testing</cp:lastModifiedBy>
  <cp:revision>174</cp:revision>
  <dcterms:modified xsi:type="dcterms:W3CDTF">2025-10-24T12:44:25Z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